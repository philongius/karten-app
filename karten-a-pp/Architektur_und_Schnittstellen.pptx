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PROJEKT KARTEN-APP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3"/>
                </a:solidFill>
                <a:latin typeface="Calibri"/>
              </a:rPr>
              <a:t>Architektur der Anwendung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Karten-App — Ionic / Vue 3 / Capacitor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7863840" cy="713232"/>
          </a:xfrm>
          <a:prstGeom prst="roundRect">
            <a:avLst>
              <a:gd name="adj" fmla="val 12000"/>
            </a:avLst>
          </a:prstGeom>
          <a:solidFill>
            <a:srgbClr val="E8EEFC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b="1" sz="1600">
                <a:solidFill>
                  <a:srgbClr val="1F2933"/>
                </a:solidFill>
                <a:latin typeface="Calibri"/>
              </a:rPr>
              <a:t>Präsentationsschicht (UI)</a:t>
            </a:r>
          </a:p>
          <a:p>
            <a:r>
              <a:rPr sz="1250">
                <a:solidFill>
                  <a:srgbClr val="52606D"/>
                </a:solidFill>
                <a:latin typeface="Calibri"/>
              </a:rPr>
              <a:t>Ionic + Vue 3 Components — MapPage.vue, App.vue</a:t>
            </a:r>
          </a:p>
        </p:txBody>
      </p:sp>
      <p:sp>
        <p:nvSpPr>
          <p:cNvPr id="9" name="Down Arrow 8"/>
          <p:cNvSpPr/>
          <p:nvPr/>
        </p:nvSpPr>
        <p:spPr>
          <a:xfrm>
            <a:off x="4526280" y="2139696"/>
            <a:ext cx="457200" cy="256032"/>
          </a:xfrm>
          <a:prstGeom prst="down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404872"/>
            <a:ext cx="7863840" cy="713232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ctr"/>
            <a:r>
              <a:rPr b="1" sz="1600">
                <a:solidFill>
                  <a:srgbClr val="1F2933"/>
                </a:solidFill>
                <a:latin typeface="Calibri"/>
              </a:rPr>
              <a:t>Business-Logik &amp; State</a:t>
            </a:r>
          </a:p>
          <a:p>
            <a:r>
              <a:rPr sz="1250">
                <a:solidFill>
                  <a:srgbClr val="52606D"/>
                </a:solidFill>
                <a:latin typeface="Calibri"/>
              </a:rPr>
              <a:t>Services &amp; Store — geocoding.ts, location.ts, mapStore.ts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526280" y="3127248"/>
            <a:ext cx="457200" cy="256032"/>
          </a:xfrm>
          <a:prstGeom prst="down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392424"/>
            <a:ext cx="7863840" cy="713232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ctr"/>
            <a:r>
              <a:rPr b="1" sz="1600">
                <a:solidFill>
                  <a:srgbClr val="1F2933"/>
                </a:solidFill>
                <a:latin typeface="Calibri"/>
              </a:rPr>
              <a:t>Capacitor-Bridge (Plugin-Schicht)</a:t>
            </a:r>
          </a:p>
          <a:p>
            <a:r>
              <a:rPr sz="1250">
                <a:solidFill>
                  <a:srgbClr val="52606D"/>
                </a:solidFill>
                <a:latin typeface="Calibri"/>
              </a:rPr>
              <a:t>Geolocation · NativeGeocoder · Preferences · App (Lifecycle)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526280" y="4114800"/>
            <a:ext cx="457200" cy="256032"/>
          </a:xfrm>
          <a:prstGeom prst="down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379976"/>
            <a:ext cx="3794759" cy="850392"/>
          </a:xfrm>
          <a:prstGeom prst="roundRect">
            <a:avLst>
              <a:gd name="adj" fmla="val 12000"/>
            </a:avLst>
          </a:prstGeom>
          <a:solidFill>
            <a:srgbClr val="FDF3E8"/>
          </a:solidFill>
          <a:ln w="13970">
            <a:solidFill>
              <a:srgbClr val="9A3D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0" bIns="0"/>
          <a:lstStyle/>
          <a:p>
            <a:pPr algn="ctr"/>
            <a:r>
              <a:rPr b="1" sz="1450">
                <a:solidFill>
                  <a:srgbClr val="1F2933"/>
                </a:solidFill>
                <a:latin typeface="Calibri"/>
              </a:rPr>
              <a:t>Native Android-Plattform</a:t>
            </a:r>
          </a:p>
          <a:p>
            <a:r>
              <a:rPr sz="1150">
                <a:solidFill>
                  <a:srgbClr val="52606D"/>
                </a:solidFill>
                <a:latin typeface="Calibri"/>
              </a:rPr>
              <a:t>GPS-Hardware · SharedPreferences · Lifecycle-Events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4379976"/>
            <a:ext cx="3794759" cy="850392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 w="1397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0" bIns="0"/>
          <a:lstStyle/>
          <a:p>
            <a:pPr algn="ctr"/>
            <a:r>
              <a:rPr b="1" sz="1450">
                <a:solidFill>
                  <a:srgbClr val="1F2933"/>
                </a:solidFill>
                <a:latin typeface="Calibri"/>
              </a:rPr>
              <a:t>Externe Web-APIs (Internet)</a:t>
            </a:r>
          </a:p>
          <a:p>
            <a:r>
              <a:rPr sz="1150">
                <a:solidFill>
                  <a:srgbClr val="52606D"/>
                </a:solidFill>
                <a:latin typeface="Calibri"/>
              </a:rPr>
              <a:t>OpenStreetMap Tile-Server · Nominatim Geocoding-API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4173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Kernpunkte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783080"/>
            <a:ext cx="2651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Kein eigenes Backend — App ist client-seitig &amp; offline-fähig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Capacitor kapselt Web-Code als native Android-App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State-Persistenz komplett lokal auf dem Gerät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Nur 2 externe Netzwerkschnittstellen (OSM, Nominatim)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SCHNITTSTELLE 1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3"/>
                </a:solidFill>
                <a:latin typeface="Calibri"/>
              </a:rPr>
              <a:t>OpenStreetMap Tile-Server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76511" y="384048"/>
            <a:ext cx="2112264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EXTERNE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Karten-App — Ionic / Vue 3 / Capacitor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6537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Zweck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6537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3"/>
                </a:solidFill>
                <a:latin typeface="Calibri"/>
              </a:rPr>
              <a:t>Liefert die Kartenkacheln (Rasterbilder) für die Kartendarstellung. Jede Kachel deckt einen festen Ausschnitt bei einer bestimmten Zoomstufe ab.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Endpoint (URL-Template)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653796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GET https://{s}.tile.openstreetmap.org/{z}/{x}/{y}.png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  {z} = Zoomstufe   {x},{y} = Kachel-Koordinaten   {s} = Subdomain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59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Verwendet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399"/>
            <a:ext cx="6537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606D"/>
                </a:solidFill>
                <a:latin typeface="Consolas"/>
              </a:rPr>
              <a:t>src/views/MapPage.vue:45–49  (&lt;l-tile-layer&gt; in &lt;l-map&gt;)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4173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Ablauf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783080"/>
            <a:ext cx="4297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Leaflet berechnet anhand von center/zoom, welche Kacheln sichtbar sind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Pro Kachel wird die Template-URL aufgefüllt und per GET geladen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Bei jedem Pan/Zoom werden fehlende Kacheln automatisch nachgeladen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Bereits geladene Kacheln werden von Leaflet intern gecacht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23560"/>
            <a:ext cx="4297680" cy="777240"/>
          </a:xfrm>
          <a:prstGeom prst="roundRect">
            <a:avLst>
              <a:gd name="adj" fmla="val 10000"/>
            </a:avLst>
          </a:prstGeom>
          <a:solidFill>
            <a:srgbClr val="FFF6E5"/>
          </a:solidFill>
          <a:ln w="12700">
            <a:solidFill>
              <a:srgbClr val="E8B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73152" bIns="73152"/>
          <a:lstStyle/>
          <a:p>
            <a:pPr algn="l"/>
            <a:r>
              <a:rPr sz="1150">
                <a:solidFill>
                  <a:srgbClr val="7A5800"/>
                </a:solidFill>
                <a:latin typeface="Calibri"/>
              </a:rPr>
              <a:t>⚠  Kein API-Key nötig, aber Attributionspflicht (© OpenStreetMap-Mitwirkende).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SCHNITTSTELLE 2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3"/>
                </a:solidFill>
                <a:latin typeface="Calibri"/>
              </a:rPr>
              <a:t>Nominatim Geocoding-API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76511" y="384048"/>
            <a:ext cx="2112264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EXTERNE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Karten-App — Ionic / Vue 3 / Capacitor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6537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Zweck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6537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3"/>
                </a:solidFill>
                <a:latin typeface="Calibri"/>
              </a:rPr>
              <a:t>Wandelt Adresstext in Koordinaten um (Geocoding) und liefert Live-Adressvorschläge während der Eingabe. Dient zudem als Fallback, wenn native Geokodierung nicht verfügbar 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Endpoint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653796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GET https://nominatim.openstreetmap.org/search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    ?format=json&amp;limit={n}&amp;q={adresse}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59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Verwendet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399"/>
            <a:ext cx="6537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606D"/>
                </a:solidFill>
                <a:latin typeface="Consolas"/>
              </a:rPr>
              <a:t>src/services/geocoding.ts:57 (Vorschläge) &amp; :80 (Fallback-Geocoding)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4173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Ablauf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783080"/>
            <a:ext cx="4297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Web-Plattform ODER native Geokodierung schlägt fehl → Fallback aktiv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fetch() mit referrerPolicy statt User-Agent (Browser-Restriktion)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JSON-Antwort wird zu {lat, lng, displayName} gemappt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Zusätzlich: Live-Suche ab 7 Zeichen, 350ms Debounce, AbortController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23560"/>
            <a:ext cx="4297680" cy="777240"/>
          </a:xfrm>
          <a:prstGeom prst="roundRect">
            <a:avLst>
              <a:gd name="adj" fmla="val 10000"/>
            </a:avLst>
          </a:prstGeom>
          <a:solidFill>
            <a:srgbClr val="FFF6E5"/>
          </a:solidFill>
          <a:ln w="12700">
            <a:solidFill>
              <a:srgbClr val="E8B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73152" bIns="73152"/>
          <a:lstStyle/>
          <a:p>
            <a:pPr algn="l"/>
            <a:r>
              <a:rPr sz="1150">
                <a:solidFill>
                  <a:srgbClr val="7A5800"/>
                </a:solidFill>
                <a:latin typeface="Calibri"/>
              </a:rPr>
              <a:t>⚠  Kein API-Key, aber Nutzungsbedingungen verlangen Referer/User-Agent-Identifikation.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SCHNITTSTELLE 3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3"/>
                </a:solidFill>
                <a:latin typeface="Calibri"/>
              </a:rPr>
              <a:t>Capacitor Geolocation-Plugin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3903" y="384048"/>
            <a:ext cx="2404872" cy="457200"/>
          </a:xfrm>
          <a:prstGeom prst="roundRect">
            <a:avLst>
              <a:gd name="adj" fmla="val 50000"/>
            </a:avLst>
          </a:prstGeom>
          <a:solidFill>
            <a:srgbClr val="9A3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NATIVE PLUGIN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Karten-App — Ionic / Vue 3 / Capacitor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6537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Zweck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6537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3"/>
                </a:solidFill>
                <a:latin typeface="Calibri"/>
              </a:rPr>
              <a:t>Ermittelt den aktuellen GPS-Standort des Nutzers — ausgelöst über den „Mein Standort“-Button in der Toolbar.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Plugin-Aufruf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653796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Geolocation.getCurrentPosition({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  enableHighAccuracy: true, timeout: 45000, maximumAge: 10000 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59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Verwendet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399"/>
            <a:ext cx="6537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606D"/>
                </a:solidFill>
                <a:latin typeface="Consolas"/>
              </a:rPr>
              <a:t>src/services/location.ts  (getCurrentPosition)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4173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Ablauf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783080"/>
            <a:ext cx="4297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requestPermissions() — fragt Standortzugriff beim Nutzer ab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300ms Wartezeit (bekannter Android-Propagierungs-Bug nach Freigabe)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getCurrentPosition() liefert lat/lng vom GPS-Chip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Ergebnis setzt Kartenfokus + blauen Standort-Marker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23560"/>
            <a:ext cx="4297680" cy="777240"/>
          </a:xfrm>
          <a:prstGeom prst="roundRect">
            <a:avLst>
              <a:gd name="adj" fmla="val 10000"/>
            </a:avLst>
          </a:prstGeom>
          <a:solidFill>
            <a:srgbClr val="FFF6E5"/>
          </a:solidFill>
          <a:ln w="12700">
            <a:solidFill>
              <a:srgbClr val="E8B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73152" bIns="73152"/>
          <a:lstStyle/>
          <a:p>
            <a:pPr algn="l"/>
            <a:r>
              <a:rPr sz="1150">
                <a:solidFill>
                  <a:srgbClr val="7A5800"/>
                </a:solidFill>
                <a:latin typeface="Calibri"/>
              </a:rPr>
              <a:t>⚠  Benötigt ACCESS_FINE_LOCATION / ACCESS_COARSE_LOCATION in AndroidManifest.xml.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SCHNITTSTELLE 4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3"/>
                </a:solidFill>
                <a:latin typeface="Calibri"/>
              </a:rPr>
              <a:t>Native Geocoder-Plugin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3903" y="384048"/>
            <a:ext cx="2404872" cy="457200"/>
          </a:xfrm>
          <a:prstGeom prst="roundRect">
            <a:avLst>
              <a:gd name="adj" fmla="val 50000"/>
            </a:avLst>
          </a:prstGeom>
          <a:solidFill>
            <a:srgbClr val="9A3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NATIVE PLUGIN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Karten-App — Ionic / Vue 3 / Capacitor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6537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Zweck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6537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3"/>
                </a:solidFill>
                <a:latin typeface="Calibri"/>
              </a:rPr>
              <a:t>Primäre Adresssuche auf nativer Plattform — nutzt den Android-eigenen Geocoder-Dienst, bevor auf Nominatim zurückgegriffen wird.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Plugin-Aufruf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653796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NativeGeocoder.forwardGeocode({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  addressString: query, maxResults: 1 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59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Verwendet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399"/>
            <a:ext cx="6537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606D"/>
                </a:solidFill>
                <a:latin typeface="Consolas"/>
              </a:rPr>
              <a:t>src/services/geocoding.ts:32–41  (geocodeNative)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4173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Ablauf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783080"/>
            <a:ext cx="4297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Nur aktiv, wenn Capacitor.isNativePlatform() true liefert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Android-Geocoder wandelt Adresstext direkt in Koordinaten um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Bei Erfolg: Adresse aus Straße/PLZ/Ort zusammengesetzt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Bei Fehler (try/catch) → automatischer Fallback auf Nominatim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23560"/>
            <a:ext cx="4297680" cy="777240"/>
          </a:xfrm>
          <a:prstGeom prst="roundRect">
            <a:avLst>
              <a:gd name="adj" fmla="val 10000"/>
            </a:avLst>
          </a:prstGeom>
          <a:solidFill>
            <a:srgbClr val="FFF6E5"/>
          </a:solidFill>
          <a:ln w="12700">
            <a:solidFill>
              <a:srgbClr val="E8B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73152" bIns="73152"/>
          <a:lstStyle/>
          <a:p>
            <a:pPr algn="l"/>
            <a:r>
              <a:rPr sz="1150">
                <a:solidFill>
                  <a:srgbClr val="7A5800"/>
                </a:solidFill>
                <a:latin typeface="Calibri"/>
              </a:rPr>
              <a:t>⚠  Hängt von Google Play Services ab — auf manchen Geräten nicht garantiert verfügbar.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SCHNITTSTELLE 5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3"/>
                </a:solidFill>
                <a:latin typeface="Calibri"/>
              </a:rPr>
              <a:t>Capacitor Preferences-Plugin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3903" y="384048"/>
            <a:ext cx="2404872" cy="457200"/>
          </a:xfrm>
          <a:prstGeom prst="roundRect">
            <a:avLst>
              <a:gd name="adj" fmla="val 50000"/>
            </a:avLst>
          </a:prstGeom>
          <a:solidFill>
            <a:srgbClr val="9A3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NATIVE PLUGIN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Karten-App — Ionic / Vue 3 / Capacitor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6537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Zweck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6537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3"/>
                </a:solidFill>
                <a:latin typeface="Calibri"/>
              </a:rPr>
              <a:t>Speichert den App-Zustand dauerhaft lokal auf dem Gerät — Kartenposition, Zoom, Standort-Marker und Suchverlauf bleiben nach Neustart erhalten.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Plugin-Aufrufe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653796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Preferences.set({ key, value: JSON.stringify(...) })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Preferences.get({ key 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59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Verwendet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399"/>
            <a:ext cx="6537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606D"/>
                </a:solidFill>
                <a:latin typeface="Consolas"/>
              </a:rPr>
              <a:t>src/store/mapStore.ts  (loadMapStore, persistMapState, persistHistory)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4173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Ablauf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783080"/>
            <a:ext cx="4297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loadMapStore() lädt gespeicherten Zustand beim App-Start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Änderungen an center/zoom/Marker werden per watch() erkannt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Debounced Speichern (300ms) vermeidet zu häufige Schreibzugriffe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Suchverlauf (max. 50 Einträge) wird separat persistiert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23560"/>
            <a:ext cx="4297680" cy="777240"/>
          </a:xfrm>
          <a:prstGeom prst="roundRect">
            <a:avLst>
              <a:gd name="adj" fmla="val 10000"/>
            </a:avLst>
          </a:prstGeom>
          <a:solidFill>
            <a:srgbClr val="FFF6E5"/>
          </a:solidFill>
          <a:ln w="12700">
            <a:solidFill>
              <a:srgbClr val="E8B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73152" bIns="73152"/>
          <a:lstStyle/>
          <a:p>
            <a:pPr algn="l"/>
            <a:r>
              <a:rPr sz="1150">
                <a:solidFill>
                  <a:srgbClr val="7A5800"/>
                </a:solidFill>
                <a:latin typeface="Calibri"/>
              </a:rPr>
              <a:t>⚠  Entspricht SharedPreferences unter Android — kein Server, volle Offline-Fähigkeit.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SCHNITTSTELLE 6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3"/>
                </a:solidFill>
                <a:latin typeface="Calibri"/>
              </a:rPr>
              <a:t>Capacitor App-Plugin (Lifecycle)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3903" y="384048"/>
            <a:ext cx="2404872" cy="457200"/>
          </a:xfrm>
          <a:prstGeom prst="roundRect">
            <a:avLst>
              <a:gd name="adj" fmla="val 50000"/>
            </a:avLst>
          </a:prstGeom>
          <a:solidFill>
            <a:srgbClr val="9A3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NATIVE PLUGIN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Karten-App — Ionic / Vue 3 / Capacitor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2606D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6537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Zweck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6537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3"/>
                </a:solidFill>
                <a:latin typeface="Calibri"/>
              </a:rPr>
              <a:t>Erkennt, wenn Android die App in den Hintergrund schickt, um ausstehende Änderungen sofort zu sichern — bevor das Betriebssystem den Prozess beenden kann.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Plugin-Aufruf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653796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CapacitorApp.addListener('pause', () =&gt; {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E5ECF7"/>
                </a:solidFill>
                <a:latin typeface="Consolas"/>
              </a:rPr>
              <a:t>  flushMapState() 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59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Verwendet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399"/>
            <a:ext cx="6537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606D"/>
                </a:solidFill>
                <a:latin typeface="Consolas"/>
              </a:rPr>
              <a:t>src/App.vue:19  (onMounted)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4173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Ablauf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783080"/>
            <a:ext cx="4297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'pause'-Event feuert beim Wechsel in den Hintergrund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flushMapState() erzwingt sofortiges Speichern (statt Debounce-Wartezeit)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Verhindert Datenverlust, falls der Android-Prozess danach beendet wird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▸  </a:t>
            </a:r>
            <a:r>
              <a:rPr sz="1250">
                <a:solidFill>
                  <a:srgbClr val="1F2933"/>
                </a:solidFill>
                <a:latin typeface="Calibri"/>
              </a:rPr>
              <a:t>Listener wird in onBeforeUnmount() wieder entfernt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